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what's the most boring thing you've had to repeat on a computer? That's what loops are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both versions live. Then add a fourth name to each and compare the effort.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say the loop out loud in English before writing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predict each row before revealing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loop on the board in a table: m, total. 72→72, 85→157, 64→221, 90→311, 58→369; 369 / 5 = 73.8.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find the bug before showing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A. 1 3 5. Start at 1, step by 2, stop before 6: 1, 3,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ticket: predict the output of range(10, 0, -3).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loops in Python · BCA, Year 1 Computer Science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F5D6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C6D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F5D6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udents working in a computer la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>
              <a:alpha val="7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2011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· PROGRAMMING IN PYTHON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23160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loops in Python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2062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once, let Python repeat it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9681667" y="6528816"/>
            <a:ext cx="2400300" cy="219456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81667" y="6528816"/>
            <a:ext cx="2400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MCPearson · CC BY-SA 3.0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job, two 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583680" cy="3931920"/>
          </a:xfrm>
          <a:prstGeom prst="roundRect">
            <a:avLst>
              <a:gd name="adj" fmla="val 1860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5943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Without a loop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print("Welcome, Asha")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print("Welcome, Ravi")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print("Welcome, Meera")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a loop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 in ["Asha", "Ravi", "Meera"]: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print("Welcome,", name)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0" y="1600200"/>
            <a:ext cx="4144975" cy="1051560"/>
          </a:xfrm>
          <a:prstGeom prst="roundRect">
            <a:avLst>
              <a:gd name="adj" fmla="val 6957"/>
            </a:avLst>
          </a:prstGeom>
          <a:solidFill>
            <a:srgbClr val="E8F0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0" y="1709928"/>
            <a:ext cx="3779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output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print three greetings.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0" y="2788920"/>
            <a:ext cx="4144975" cy="1051560"/>
          </a:xfrm>
          <a:prstGeom prst="roundRect">
            <a:avLst>
              <a:gd name="adj" fmla="val 6957"/>
            </a:avLst>
          </a:prstGeom>
          <a:solidFill>
            <a:srgbClr val="E8F0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0" y="2898648"/>
            <a:ext cx="3779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 to change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name to the list, not a new line.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0" y="3977640"/>
            <a:ext cx="4144975" cy="1051560"/>
          </a:xfrm>
          <a:prstGeom prst="roundRect">
            <a:avLst>
              <a:gd name="adj" fmla="val 6957"/>
            </a:avLst>
          </a:prstGeom>
          <a:solidFill>
            <a:srgbClr val="E8F0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0" y="4087368"/>
            <a:ext cx="3779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Scales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the same for 3 names or 3,000.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F5D6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for loop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583680" cy="1737360"/>
          </a:xfrm>
          <a:prstGeom prst="roundRect">
            <a:avLst>
              <a:gd name="adj" fmla="val 4211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item in collection: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runs once per item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do_something(item)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98080" y="1600200"/>
            <a:ext cx="4144975" cy="1051560"/>
          </a:xfrm>
          <a:prstGeom prst="roundRect">
            <a:avLst>
              <a:gd name="adj" fmla="val 6957"/>
            </a:avLst>
          </a:prstGeom>
          <a:solidFill>
            <a:srgbClr val="E8F0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0" y="1709928"/>
            <a:ext cx="3779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… in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keywords. Read it as 'for each item in…'.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0" y="2788920"/>
            <a:ext cx="4144975" cy="1051560"/>
          </a:xfrm>
          <a:prstGeom prst="roundRect">
            <a:avLst>
              <a:gd name="adj" fmla="val 6957"/>
            </a:avLst>
          </a:prstGeom>
          <a:solidFill>
            <a:srgbClr val="E8F0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0" y="2898648"/>
            <a:ext cx="3779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you choose. It holds the current value.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0" y="3977640"/>
            <a:ext cx="4144975" cy="1051560"/>
          </a:xfrm>
          <a:prstGeom prst="roundRect">
            <a:avLst>
              <a:gd name="adj" fmla="val 6957"/>
            </a:avLst>
          </a:prstGeom>
          <a:solidFill>
            <a:srgbClr val="E8F0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0" y="4087368"/>
            <a:ext cx="3779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list, a string, a range: anything you can step through.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0" y="5166360"/>
            <a:ext cx="4144975" cy="1051560"/>
          </a:xfrm>
          <a:prstGeom prst="roundRect">
            <a:avLst>
              <a:gd name="adj" fmla="val 6957"/>
            </a:avLst>
          </a:prstGeom>
          <a:solidFill>
            <a:srgbClr val="E8F0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0" y="5276088"/>
            <a:ext cx="3779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and indent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indented under the colon is the loop body.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F5D6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with range()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566160"/>
                <a:gridCol w="4206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write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gives you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D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DB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range(5)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0, 1, 2, 3, 4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at 0, stops before 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range(2, 8)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2, 3, 4, 5, 6, 7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at 2, stops before 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range(0, 10, 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0, 3, 6, 9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of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range(5, 0, -1)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5, 4, 3, 2, 1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down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F5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 value is never included. That one rule prevents most off-by-one bugs.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F5D6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class average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583680" cy="3017520"/>
          </a:xfrm>
          <a:prstGeom prst="roundRect">
            <a:avLst>
              <a:gd name="adj" fmla="val 2424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5943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[72, 85, 64, 90, 58]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 in marks: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total + m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= total / len(marks)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print("Average:", average)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5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09320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Average: 73.8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600200"/>
            <a:ext cx="4144975" cy="1051560"/>
          </a:xfrm>
          <a:prstGeom prst="roundRect">
            <a:avLst>
              <a:gd name="adj" fmla="val 6957"/>
            </a:avLst>
          </a:prstGeom>
          <a:solidFill>
            <a:srgbClr val="E8F0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0" y="1709928"/>
            <a:ext cx="3779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running sum before the loop.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0" y="2788920"/>
            <a:ext cx="4144975" cy="1051560"/>
          </a:xfrm>
          <a:prstGeom prst="roundRect">
            <a:avLst>
              <a:gd name="adj" fmla="val 6957"/>
            </a:avLst>
          </a:prstGeom>
          <a:solidFill>
            <a:srgbClr val="E8F0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0" y="2898648"/>
            <a:ext cx="3779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+ m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pass adds one mark.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0" y="3977640"/>
            <a:ext cx="4144975" cy="1051560"/>
          </a:xfrm>
          <a:prstGeom prst="roundRect">
            <a:avLst>
              <a:gd name="adj" fmla="val 6957"/>
            </a:avLst>
          </a:prstGeom>
          <a:solidFill>
            <a:srgbClr val="E8F0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0" y="4087368"/>
            <a:ext cx="3779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len(marks)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after the loop, not inside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F5D6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 everyone writes once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right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64328" cy="18288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47242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10):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5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 </a:t>
            </a:r>
            <a:pPr indent="0" marL="0">
              <a:buNone/>
            </a:pPr>
            <a:r>
              <a:rPr lang="en-US" sz="17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… 9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80560"/>
            <a:ext cx="536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F5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Meant to print 1 to 10, but the stop value is never included.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278728" y="150876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7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78728" y="1965960"/>
            <a:ext cx="5364328" cy="18288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98768" y="2194560"/>
            <a:ext cx="47242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11):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78728" y="397764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5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 </a:t>
            </a:r>
            <a:pPr indent="0" marL="0">
              <a:buNone/>
            </a:pPr>
            <a:r>
              <a:rPr lang="en-US" sz="17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… 10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78728" y="4480560"/>
            <a:ext cx="536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F5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stop value one past the last number you want.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F5D6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this print?   for i in range(1, 6, 2): print(i)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536432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D3E0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990088"/>
            <a:ext cx="603504" cy="603504"/>
          </a:xfrm>
          <a:prstGeom prst="ellipse">
            <a:avLst/>
          </a:prstGeom>
          <a:solidFill>
            <a:srgbClr val="2F6DB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834640"/>
            <a:ext cx="403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1 3 5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78728" y="2651760"/>
            <a:ext cx="536432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D3E0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3048" y="2990088"/>
            <a:ext cx="603504" cy="603504"/>
          </a:xfrm>
          <a:prstGeom prst="ellipse">
            <a:avLst/>
          </a:prstGeom>
          <a:solidFill>
            <a:srgbClr val="2F6DB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53048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834640"/>
            <a:ext cx="403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1 2 3 4 5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36432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D3E0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544568"/>
            <a:ext cx="603504" cy="603504"/>
          </a:xfrm>
          <a:prstGeom prst="ellipse">
            <a:avLst/>
          </a:prstGeom>
          <a:solidFill>
            <a:srgbClr val="2F6DB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5445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389120"/>
            <a:ext cx="403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2 4 6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8728" y="4206240"/>
            <a:ext cx="536432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D3E0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53048" y="4544568"/>
            <a:ext cx="603504" cy="603504"/>
          </a:xfrm>
          <a:prstGeom prst="ellipse">
            <a:avLst/>
          </a:prstGeom>
          <a:solidFill>
            <a:srgbClr val="2F6DB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53048" y="45445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89120"/>
            <a:ext cx="403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1 3 5 7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F5D6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1A22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D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item in collection: repeats the body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90824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1A22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710864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D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710864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range(start, stop, step) stops before stop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33008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1A22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53048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D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totals before the loop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075191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1A22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95231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D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395231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is the loop body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006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  </a:t>
            </a:r>
            <a:pPr indent="0" marL="0">
              <a:buNone/>
            </a:pPr>
            <a:r>
              <a:rPr lang="en-US" sz="1700" dirty="0">
                <a:solidFill>
                  <a:srgbClr val="D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loop that prints the 7 times table from 7 × 1 to 7 × 10.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C6D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vran for loops in Python">
  <a:themeElements>
    <a:clrScheme name="Vivran for loops in Python">
      <a:dk1>
        <a:srgbClr val="0D1B2A"/>
      </a:dk1>
      <a:lt1>
        <a:srgbClr val="FFFFFF"/>
      </a:lt1>
      <a:dk2>
        <a:srgbClr val="0D1117"/>
      </a:dk2>
      <a:lt2>
        <a:srgbClr val="E8F0FA"/>
      </a:lt2>
      <a:accent1>
        <a:srgbClr val="2F6DB5"/>
      </a:accent1>
      <a:accent2>
        <a:srgbClr val="FFD43B"/>
      </a:accent2>
      <a:accent3>
        <a:srgbClr val="4F5D6E"/>
      </a:accent3>
      <a:accent4>
        <a:srgbClr val="2F6DB5"/>
      </a:accent4>
      <a:accent5>
        <a:srgbClr val="4F5D6E"/>
      </a:accent5>
      <a:accent6>
        <a:srgbClr val="D3E0F0"/>
      </a:accent6>
      <a:hlink>
        <a:srgbClr val="2F6DB5"/>
      </a:hlink>
      <a:folHlink>
        <a:srgbClr val="4F5D6E"/>
      </a:folHlink>
    </a:clrScheme>
    <a:fontScheme name="Vivran for loops in Pyth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Vivran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 loops in Python · BCA, Year 1</dc:title>
  <dc:subject>PptxGenJS Presentation</dc:subject>
  <dc:creator>Vivran</dc:creator>
  <cp:lastModifiedBy>Vivran</cp:lastModifiedBy>
  <cp:revision>1</cp:revision>
  <dcterms:created xsi:type="dcterms:W3CDTF">2026-10-23T08:53:40Z</dcterms:created>
  <dcterms:modified xsi:type="dcterms:W3CDTF">2026-10-23T08:53:40Z</dcterms:modified>
</cp:coreProperties>
</file>