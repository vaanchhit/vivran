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micrograph: these are real onion root cells caught mid-division. Ask what stage a few of them are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one example of each from the human body: skin repair (mitosis), sperm and egg (meiosis).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red chromosome through each process. Where does it end up?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one column and quiz the class on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two strips of coloured paper to show crossing over physically.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explain to a partner why the DNA isn't copied again. Listen for 'it would double the number back'.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23. Meiosis halves the chromosome number: 2n = 46 becomes n = 23. Fertilisation then restores 46.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ticket: one difference, one similarity.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Mitosis vs Meiosis · Class 11 Biology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ion root tip cells in mitosis under a micro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3">
              <a:alpha val="7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11 · BIOLOGY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2316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 vs Meiosis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a cell divides, and why your body needs both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681667" y="6528816"/>
            <a:ext cx="240030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81667" y="6528816"/>
            <a:ext cx="2400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Catfaster · CC BY-SA 4.0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start, different jobs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3630168"/>
          </a:xfrm>
          <a:prstGeom prst="roundRect">
            <a:avLst>
              <a:gd name="adj" fmla="val 2519"/>
            </a:avLst>
          </a:prstGeom>
          <a:solidFill>
            <a:srgbClr val="E3F4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947672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377440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growth and repair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472424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division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daughter cells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Genetically identical to the parent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 number stays the same (2n)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364328" cy="3630168"/>
          </a:xfrm>
          <a:prstGeom prst="roundRect">
            <a:avLst>
              <a:gd name="adj" fmla="val 2519"/>
            </a:avLst>
          </a:prstGeom>
          <a:solidFill>
            <a:srgbClr val="EEE8F6"/>
          </a:solidFill>
          <a:ln/>
        </p:spPr>
      </p:sp>
      <p:sp>
        <p:nvSpPr>
          <p:cNvPr id="10" name="Shape 7"/>
          <p:cNvSpPr/>
          <p:nvPr/>
        </p:nvSpPr>
        <p:spPr>
          <a:xfrm>
            <a:off x="6598768" y="1920240"/>
            <a:ext cx="777240" cy="777240"/>
          </a:xfrm>
          <a:prstGeom prst="ellipse">
            <a:avLst/>
          </a:prstGeom>
          <a:solidFill>
            <a:srgbClr val="6A4C9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792" y="211226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58888" y="1947672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4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558888" y="2377440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making gametes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98768" y="2971800"/>
            <a:ext cx="472424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divisions in a row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daughter cells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genetically different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 number halves (2n → 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the chromosomes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E3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division · 2 identical cells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3429000"/>
            <a:ext cx="1371600" cy="1371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B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840000">
            <a:off x="1474470" y="3874770"/>
            <a:ext cx="109728" cy="288036"/>
          </a:xfrm>
          <a:prstGeom prst="roundRect">
            <a:avLst>
              <a:gd name="adj" fmla="val 41667"/>
            </a:avLst>
          </a:prstGeom>
          <a:solidFill>
            <a:srgbClr val="E2574C"/>
          </a:solidFill>
          <a:ln/>
        </p:spPr>
      </p:sp>
      <p:sp>
        <p:nvSpPr>
          <p:cNvPr id="8" name="Shape 6"/>
          <p:cNvSpPr/>
          <p:nvPr/>
        </p:nvSpPr>
        <p:spPr>
          <a:xfrm rot="1080000">
            <a:off x="1851660" y="3874770"/>
            <a:ext cx="109728" cy="288036"/>
          </a:xfrm>
          <a:prstGeom prst="roundRect">
            <a:avLst>
              <a:gd name="adj" fmla="val 41667"/>
            </a:avLst>
          </a:prstGeom>
          <a:solidFill>
            <a:srgbClr val="2F5DA8"/>
          </a:solidFill>
          <a:ln/>
        </p:spPr>
      </p:sp>
      <p:sp>
        <p:nvSpPr>
          <p:cNvPr id="9" name="Shape 7"/>
          <p:cNvSpPr/>
          <p:nvPr/>
        </p:nvSpPr>
        <p:spPr>
          <a:xfrm rot="-840000">
            <a:off x="1474470" y="4217670"/>
            <a:ext cx="109728" cy="288036"/>
          </a:xfrm>
          <a:prstGeom prst="roundRect">
            <a:avLst>
              <a:gd name="adj" fmla="val 41667"/>
            </a:avLst>
          </a:prstGeom>
          <a:solidFill>
            <a:srgbClr val="E2574C"/>
          </a:solidFill>
          <a:ln/>
        </p:spPr>
      </p:sp>
      <p:sp>
        <p:nvSpPr>
          <p:cNvPr id="10" name="Shape 8"/>
          <p:cNvSpPr/>
          <p:nvPr/>
        </p:nvSpPr>
        <p:spPr>
          <a:xfrm rot="1080000">
            <a:off x="1851660" y="4217670"/>
            <a:ext cx="109728" cy="288036"/>
          </a:xfrm>
          <a:prstGeom prst="roundRect">
            <a:avLst>
              <a:gd name="adj" fmla="val 41667"/>
            </a:avLst>
          </a:prstGeom>
          <a:solidFill>
            <a:srgbClr val="2F5DA8"/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2560320" y="3337560"/>
            <a:ext cx="822960" cy="77724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4114800"/>
            <a:ext cx="822960" cy="77724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93592" y="2679192"/>
            <a:ext cx="1133856" cy="11338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840000">
            <a:off x="3905402" y="3047695"/>
            <a:ext cx="90708" cy="238110"/>
          </a:xfrm>
          <a:prstGeom prst="roundRect">
            <a:avLst>
              <a:gd name="adj" fmla="val 50403"/>
            </a:avLst>
          </a:prstGeom>
          <a:solidFill>
            <a:srgbClr val="E2574C"/>
          </a:solidFill>
          <a:ln/>
        </p:spPr>
      </p:sp>
      <p:sp>
        <p:nvSpPr>
          <p:cNvPr id="15" name="Shape 13"/>
          <p:cNvSpPr/>
          <p:nvPr/>
        </p:nvSpPr>
        <p:spPr>
          <a:xfrm rot="1080000">
            <a:off x="4217213" y="3047695"/>
            <a:ext cx="90708" cy="238110"/>
          </a:xfrm>
          <a:prstGeom prst="roundRect">
            <a:avLst>
              <a:gd name="adj" fmla="val 50403"/>
            </a:avLst>
          </a:prstGeom>
          <a:solidFill>
            <a:srgbClr val="2F5DA8"/>
          </a:solidFill>
          <a:ln/>
        </p:spPr>
      </p:sp>
      <p:sp>
        <p:nvSpPr>
          <p:cNvPr id="16" name="Shape 14"/>
          <p:cNvSpPr/>
          <p:nvPr/>
        </p:nvSpPr>
        <p:spPr>
          <a:xfrm rot="-840000">
            <a:off x="3905402" y="3331159"/>
            <a:ext cx="90708" cy="238110"/>
          </a:xfrm>
          <a:prstGeom prst="roundRect">
            <a:avLst>
              <a:gd name="adj" fmla="val 50403"/>
            </a:avLst>
          </a:prstGeom>
          <a:solidFill>
            <a:srgbClr val="E2574C"/>
          </a:solidFill>
          <a:ln/>
        </p:spPr>
      </p:sp>
      <p:sp>
        <p:nvSpPr>
          <p:cNvPr id="17" name="Shape 15"/>
          <p:cNvSpPr/>
          <p:nvPr/>
        </p:nvSpPr>
        <p:spPr>
          <a:xfrm rot="1080000">
            <a:off x="4217213" y="3331159"/>
            <a:ext cx="90708" cy="238110"/>
          </a:xfrm>
          <a:prstGeom prst="roundRect">
            <a:avLst>
              <a:gd name="adj" fmla="val 50403"/>
            </a:avLst>
          </a:prstGeom>
          <a:solidFill>
            <a:srgbClr val="2F5DA8"/>
          </a:solidFill>
          <a:ln/>
        </p:spPr>
      </p:sp>
      <p:sp>
        <p:nvSpPr>
          <p:cNvPr id="18" name="Shape 16"/>
          <p:cNvSpPr/>
          <p:nvPr/>
        </p:nvSpPr>
        <p:spPr>
          <a:xfrm>
            <a:off x="3593592" y="4416552"/>
            <a:ext cx="1133856" cy="11338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8B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840000">
            <a:off x="3905402" y="4785055"/>
            <a:ext cx="90708" cy="238110"/>
          </a:xfrm>
          <a:prstGeom prst="roundRect">
            <a:avLst>
              <a:gd name="adj" fmla="val 50403"/>
            </a:avLst>
          </a:prstGeom>
          <a:solidFill>
            <a:srgbClr val="E2574C"/>
          </a:solidFill>
          <a:ln/>
        </p:spPr>
      </p:sp>
      <p:sp>
        <p:nvSpPr>
          <p:cNvPr id="20" name="Shape 18"/>
          <p:cNvSpPr/>
          <p:nvPr/>
        </p:nvSpPr>
        <p:spPr>
          <a:xfrm rot="1080000">
            <a:off x="4217213" y="4785055"/>
            <a:ext cx="90708" cy="238110"/>
          </a:xfrm>
          <a:prstGeom prst="roundRect">
            <a:avLst>
              <a:gd name="adj" fmla="val 50403"/>
            </a:avLst>
          </a:prstGeom>
          <a:solidFill>
            <a:srgbClr val="2F5DA8"/>
          </a:solidFill>
          <a:ln/>
        </p:spPr>
      </p:sp>
      <p:sp>
        <p:nvSpPr>
          <p:cNvPr id="21" name="Shape 19"/>
          <p:cNvSpPr/>
          <p:nvPr/>
        </p:nvSpPr>
        <p:spPr>
          <a:xfrm rot="-840000">
            <a:off x="3905402" y="5068519"/>
            <a:ext cx="90708" cy="238110"/>
          </a:xfrm>
          <a:prstGeom prst="roundRect">
            <a:avLst>
              <a:gd name="adj" fmla="val 50403"/>
            </a:avLst>
          </a:prstGeom>
          <a:solidFill>
            <a:srgbClr val="E2574C"/>
          </a:solidFill>
          <a:ln/>
        </p:spPr>
      </p:sp>
      <p:sp>
        <p:nvSpPr>
          <p:cNvPr id="22" name="Shape 20"/>
          <p:cNvSpPr/>
          <p:nvPr/>
        </p:nvSpPr>
        <p:spPr>
          <a:xfrm rot="1080000">
            <a:off x="4217213" y="5068519"/>
            <a:ext cx="90708" cy="238110"/>
          </a:xfrm>
          <a:prstGeom prst="roundRect">
            <a:avLst>
              <a:gd name="adj" fmla="val 50403"/>
            </a:avLst>
          </a:prstGeom>
          <a:solidFill>
            <a:srgbClr val="2F5DA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 → 2n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080760" y="1508760"/>
            <a:ext cx="5562295" cy="4526280"/>
          </a:xfrm>
          <a:prstGeom prst="roundRect">
            <a:avLst>
              <a:gd name="adj" fmla="val 2020"/>
            </a:avLst>
          </a:prstGeom>
          <a:solidFill>
            <a:srgbClr val="EEE8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A4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divisions · 4 different cells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3474720"/>
            <a:ext cx="1280160" cy="12801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A4C9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840000">
            <a:off x="6707124" y="3890772"/>
            <a:ext cx="102413" cy="268834"/>
          </a:xfrm>
          <a:prstGeom prst="roundRect">
            <a:avLst>
              <a:gd name="adj" fmla="val 44643"/>
            </a:avLst>
          </a:prstGeom>
          <a:solidFill>
            <a:srgbClr val="E2574C"/>
          </a:solidFill>
          <a:ln/>
        </p:spPr>
      </p:sp>
      <p:sp>
        <p:nvSpPr>
          <p:cNvPr id="29" name="Shape 27"/>
          <p:cNvSpPr/>
          <p:nvPr/>
        </p:nvSpPr>
        <p:spPr>
          <a:xfrm rot="1080000">
            <a:off x="7059168" y="3890772"/>
            <a:ext cx="102413" cy="268834"/>
          </a:xfrm>
          <a:prstGeom prst="roundRect">
            <a:avLst>
              <a:gd name="adj" fmla="val 44643"/>
            </a:avLst>
          </a:prstGeom>
          <a:solidFill>
            <a:srgbClr val="2F5DA8"/>
          </a:solidFill>
          <a:ln/>
        </p:spPr>
      </p:sp>
      <p:sp>
        <p:nvSpPr>
          <p:cNvPr id="30" name="Shape 28"/>
          <p:cNvSpPr/>
          <p:nvPr/>
        </p:nvSpPr>
        <p:spPr>
          <a:xfrm rot="-840000">
            <a:off x="6707124" y="4210812"/>
            <a:ext cx="102413" cy="268834"/>
          </a:xfrm>
          <a:prstGeom prst="roundRect">
            <a:avLst>
              <a:gd name="adj" fmla="val 44643"/>
            </a:avLst>
          </a:prstGeom>
          <a:solidFill>
            <a:srgbClr val="E2574C"/>
          </a:solidFill>
          <a:ln/>
        </p:spPr>
      </p:sp>
      <p:sp>
        <p:nvSpPr>
          <p:cNvPr id="31" name="Shape 29"/>
          <p:cNvSpPr/>
          <p:nvPr/>
        </p:nvSpPr>
        <p:spPr>
          <a:xfrm rot="1080000">
            <a:off x="7059168" y="4210812"/>
            <a:ext cx="102413" cy="268834"/>
          </a:xfrm>
          <a:prstGeom prst="roundRect">
            <a:avLst>
              <a:gd name="adj" fmla="val 44643"/>
            </a:avLst>
          </a:prstGeom>
          <a:solidFill>
            <a:srgbClr val="2F5DA8"/>
          </a:solidFill>
          <a:ln/>
        </p:spPr>
      </p:sp>
      <p:sp>
        <p:nvSpPr>
          <p:cNvPr id="32" name="Shape 30"/>
          <p:cNvSpPr/>
          <p:nvPr/>
        </p:nvSpPr>
        <p:spPr>
          <a:xfrm flipV="1">
            <a:off x="7726680" y="3474720"/>
            <a:ext cx="594360" cy="640080"/>
          </a:xfrm>
          <a:prstGeom prst="line">
            <a:avLst/>
          </a:prstGeom>
          <a:noFill/>
          <a:ln w="19050">
            <a:solidFill>
              <a:srgbClr val="6A4C9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26680" y="4114800"/>
            <a:ext cx="594360" cy="640080"/>
          </a:xfrm>
          <a:prstGeom prst="line">
            <a:avLst/>
          </a:prstGeom>
          <a:noFill/>
          <a:ln w="19050">
            <a:solidFill>
              <a:srgbClr val="6A4C9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39328" y="2898648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A4C9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840000">
            <a:off x="8580730" y="3183941"/>
            <a:ext cx="70226" cy="184343"/>
          </a:xfrm>
          <a:prstGeom prst="roundRect">
            <a:avLst>
              <a:gd name="adj" fmla="val 65104"/>
            </a:avLst>
          </a:prstGeom>
          <a:solidFill>
            <a:srgbClr val="E2574C"/>
          </a:solidFill>
          <a:ln/>
        </p:spPr>
      </p:sp>
      <p:sp>
        <p:nvSpPr>
          <p:cNvPr id="36" name="Shape 34"/>
          <p:cNvSpPr/>
          <p:nvPr/>
        </p:nvSpPr>
        <p:spPr>
          <a:xfrm rot="1080000">
            <a:off x="8822131" y="3183941"/>
            <a:ext cx="70226" cy="184343"/>
          </a:xfrm>
          <a:prstGeom prst="roundRect">
            <a:avLst>
              <a:gd name="adj" fmla="val 65104"/>
            </a:avLst>
          </a:prstGeom>
          <a:solidFill>
            <a:srgbClr val="E2574C"/>
          </a:solidFill>
          <a:ln/>
        </p:spPr>
      </p:sp>
      <p:sp>
        <p:nvSpPr>
          <p:cNvPr id="37" name="Shape 35"/>
          <p:cNvSpPr/>
          <p:nvPr/>
        </p:nvSpPr>
        <p:spPr>
          <a:xfrm>
            <a:off x="8339328" y="4453128"/>
            <a:ext cx="877824" cy="87782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A4C9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840000">
            <a:off x="8580730" y="4738421"/>
            <a:ext cx="70226" cy="184343"/>
          </a:xfrm>
          <a:prstGeom prst="roundRect">
            <a:avLst>
              <a:gd name="adj" fmla="val 65104"/>
            </a:avLst>
          </a:prstGeom>
          <a:solidFill>
            <a:srgbClr val="2F5DA8"/>
          </a:solidFill>
          <a:ln/>
        </p:spPr>
      </p:sp>
      <p:sp>
        <p:nvSpPr>
          <p:cNvPr id="39" name="Shape 37"/>
          <p:cNvSpPr/>
          <p:nvPr/>
        </p:nvSpPr>
        <p:spPr>
          <a:xfrm rot="1080000">
            <a:off x="8822131" y="4738421"/>
            <a:ext cx="70226" cy="184343"/>
          </a:xfrm>
          <a:prstGeom prst="roundRect">
            <a:avLst>
              <a:gd name="adj" fmla="val 65104"/>
            </a:avLst>
          </a:prstGeom>
          <a:solidFill>
            <a:srgbClr val="2F5DA8"/>
          </a:solidFill>
          <a:ln/>
        </p:spPr>
      </p:sp>
      <p:sp>
        <p:nvSpPr>
          <p:cNvPr id="40" name="Shape 38"/>
          <p:cNvSpPr/>
          <p:nvPr/>
        </p:nvSpPr>
        <p:spPr>
          <a:xfrm flipV="1">
            <a:off x="9281160" y="2926080"/>
            <a:ext cx="777240" cy="411480"/>
          </a:xfrm>
          <a:prstGeom prst="line">
            <a:avLst/>
          </a:prstGeom>
          <a:noFill/>
          <a:ln w="19050">
            <a:solidFill>
              <a:srgbClr val="6A4C9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094976" y="2596896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A4C9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840000">
            <a:off x="10276027" y="2810866"/>
            <a:ext cx="52669" cy="138257"/>
          </a:xfrm>
          <a:prstGeom prst="roundRect">
            <a:avLst>
              <a:gd name="adj" fmla="val 86806"/>
            </a:avLst>
          </a:prstGeom>
          <a:solidFill>
            <a:srgbClr val="E2574C"/>
          </a:solidFill>
          <a:ln/>
        </p:spPr>
      </p:sp>
      <p:sp>
        <p:nvSpPr>
          <p:cNvPr id="43" name="Shape 41"/>
          <p:cNvSpPr/>
          <p:nvPr/>
        </p:nvSpPr>
        <p:spPr>
          <a:xfrm>
            <a:off x="9281160" y="3337560"/>
            <a:ext cx="777240" cy="411480"/>
          </a:xfrm>
          <a:prstGeom prst="line">
            <a:avLst/>
          </a:prstGeom>
          <a:noFill/>
          <a:ln w="19050">
            <a:solidFill>
              <a:srgbClr val="6A4C9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094976" y="3419856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A4C9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840000">
            <a:off x="10276027" y="3633826"/>
            <a:ext cx="52669" cy="138257"/>
          </a:xfrm>
          <a:prstGeom prst="roundRect">
            <a:avLst>
              <a:gd name="adj" fmla="val 86806"/>
            </a:avLst>
          </a:prstGeom>
          <a:solidFill>
            <a:srgbClr val="C9735E"/>
          </a:solidFill>
          <a:ln/>
        </p:spPr>
      </p:sp>
      <p:sp>
        <p:nvSpPr>
          <p:cNvPr id="46" name="Shape 44"/>
          <p:cNvSpPr/>
          <p:nvPr/>
        </p:nvSpPr>
        <p:spPr>
          <a:xfrm flipV="1">
            <a:off x="9281160" y="4480560"/>
            <a:ext cx="777240" cy="411480"/>
          </a:xfrm>
          <a:prstGeom prst="line">
            <a:avLst/>
          </a:prstGeom>
          <a:noFill/>
          <a:ln w="19050">
            <a:solidFill>
              <a:srgbClr val="6A4C9C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094976" y="4151376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A4C9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840000">
            <a:off x="10276027" y="4365346"/>
            <a:ext cx="52669" cy="138257"/>
          </a:xfrm>
          <a:prstGeom prst="roundRect">
            <a:avLst>
              <a:gd name="adj" fmla="val 86806"/>
            </a:avLst>
          </a:prstGeom>
          <a:solidFill>
            <a:srgbClr val="2F5DA8"/>
          </a:solidFill>
          <a:ln/>
        </p:spPr>
      </p:sp>
      <p:sp>
        <p:nvSpPr>
          <p:cNvPr id="49" name="Shape 47"/>
          <p:cNvSpPr/>
          <p:nvPr/>
        </p:nvSpPr>
        <p:spPr>
          <a:xfrm>
            <a:off x="9281160" y="4892040"/>
            <a:ext cx="777240" cy="411480"/>
          </a:xfrm>
          <a:prstGeom prst="line">
            <a:avLst/>
          </a:prstGeom>
          <a:noFill/>
          <a:ln w="19050">
            <a:solidFill>
              <a:srgbClr val="6A4C9C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094976" y="4974336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A4C9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-840000">
            <a:off x="10276027" y="5188306"/>
            <a:ext cx="52669" cy="138257"/>
          </a:xfrm>
          <a:prstGeom prst="roundRect">
            <a:avLst>
              <a:gd name="adj" fmla="val 86806"/>
            </a:avLst>
          </a:prstGeom>
          <a:solidFill>
            <a:srgbClr val="7A93C9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40080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 → n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Simplified: one pair of homologous chromosomes shown, coloured by parent.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Mitosis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Meiosis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C9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(meiosis I and II)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Daughter cells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Chromosome 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(diploid)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Halved (haploid)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makeup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to the parent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Different, due to crossing over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(somatic) cells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Reproductive organs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Growth, repair, asexual reproduction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Gametes for sexual reproduction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SIBLINGS LOOK DIFFERENT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meiosis I, paired chromosomes swap pieces.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822960" cy="54864"/>
          </a:xfrm>
          <a:prstGeom prst="rect">
            <a:avLst/>
          </a:prstGeom>
          <a:solidFill>
            <a:srgbClr val="7FD6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977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crossing over, plus the random way pairs line up, means each gamete carries a new mix of genes. That is why no two siblings (except identical twins) are alike.</a:t>
            </a:r>
            <a:endParaRPr lang="en-US" sz="1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mix-up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4014216"/>
          </a:xfrm>
          <a:prstGeom prst="roundRect">
            <a:avLst>
              <a:gd name="adj" fmla="val 2278"/>
            </a:avLst>
          </a:prstGeom>
          <a:solidFill>
            <a:srgbClr val="FBEAE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947672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quite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971800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“Meiosis is just mitosis done twice.”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600200"/>
            <a:ext cx="5364328" cy="4014216"/>
          </a:xfrm>
          <a:prstGeom prst="roundRect">
            <a:avLst>
              <a:gd name="adj" fmla="val 2278"/>
            </a:avLst>
          </a:prstGeom>
          <a:solidFill>
            <a:srgbClr val="E6F4EC"/>
          </a:solidFill>
          <a:ln/>
        </p:spPr>
      </p:sp>
      <p:sp>
        <p:nvSpPr>
          <p:cNvPr id="9" name="Shape 6"/>
          <p:cNvSpPr/>
          <p:nvPr/>
        </p:nvSpPr>
        <p:spPr>
          <a:xfrm>
            <a:off x="6598768" y="1920240"/>
            <a:ext cx="777240" cy="777240"/>
          </a:xfrm>
          <a:prstGeom prst="ellipse">
            <a:avLst/>
          </a:prstGeom>
          <a:solidFill>
            <a:srgbClr val="1A7F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792" y="2112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58888" y="1947672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7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971800"/>
            <a:ext cx="47242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Meiosis I separates homologous pairs: that is what halves the number.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Meiosis II separates sister chromatids, like mitosis.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is not copied again between the two divisions.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cell with 46 chromosomes undergoes meiosis. How many chromosomes does each gamete have?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CFE8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990088"/>
            <a:ext cx="603504" cy="60350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83464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78728" y="265176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CFE8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2990088"/>
            <a:ext cx="603504" cy="60350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83464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CFE8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544568"/>
            <a:ext cx="603504" cy="60350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38912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8728" y="420624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CFE8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3048" y="4544568"/>
            <a:ext cx="603504" cy="603504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53048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8912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837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Mitosis: 1 division, 2 identical cells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90824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837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10864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710864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Meiosis: 2 divisions, 4 different cells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837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Meiosis halves the chromosome number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75191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837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95231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395231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over creates variation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00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  </a:t>
            </a:r>
            <a:pPr indent="0" marL="0">
              <a:buNone/>
            </a:pPr>
            <a:r>
              <a:rPr lang="en-US" sz="170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both processes for a cell with 2n = 4, labelling each stage.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ran Mitosis vs Meiosis">
  <a:themeElements>
    <a:clrScheme name="Vivran Mitosis vs Meiosis">
      <a:dk1>
        <a:srgbClr val="13293D"/>
      </a:dk1>
      <a:lt1>
        <a:srgbClr val="FFFFFF"/>
      </a:lt1>
      <a:dk2>
        <a:srgbClr val="0E2433"/>
      </a:dk2>
      <a:lt2>
        <a:srgbClr val="E3F4F4"/>
      </a:lt2>
      <a:accent1>
        <a:srgbClr val="0F8B8D"/>
      </a:accent1>
      <a:accent2>
        <a:srgbClr val="7FD6D0"/>
      </a:accent2>
      <a:accent3>
        <a:srgbClr val="52657A"/>
      </a:accent3>
      <a:accent4>
        <a:srgbClr val="6A4C9C"/>
      </a:accent4>
      <a:accent5>
        <a:srgbClr val="52657A"/>
      </a:accent5>
      <a:accent6>
        <a:srgbClr val="CFE8E8"/>
      </a:accent6>
      <a:hlink>
        <a:srgbClr val="0F8B8D"/>
      </a:hlink>
      <a:folHlink>
        <a:srgbClr val="52657A"/>
      </a:folHlink>
    </a:clrScheme>
    <a:fontScheme name="Vivran Mitosis vs Meios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Vivran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Mitosis vs Meiosis · Class 11</dc:title>
  <dc:subject>PptxGenJS Presentation</dc:subject>
  <dc:creator>Vivran</dc:creator>
  <cp:lastModifiedBy>Vivran</cp:lastModifiedBy>
  <cp:revision>1</cp:revision>
  <dcterms:created xsi:type="dcterms:W3CDTF">2026-10-23T08:53:39Z</dcterms:created>
  <dcterms:modified xsi:type="dcterms:W3CDTF">2026-10-23T08:53:39Z</dcterms:modified>
</cp:coreProperties>
</file>