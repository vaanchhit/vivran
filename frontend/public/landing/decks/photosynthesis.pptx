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holding up a leaf. Ask: where does this plant get its food? Collect three answers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goals aloud. Come back to them at the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equation on the board tile by tile. Ask where each input comes from before revealing the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a microscope and a moss leaf, show the real thing. Otherwise, zoom into this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pairs to act out the five steps in order, one student per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name a food that did not start with a plant. Discuss why even milk and eggs trace back to plants.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Carbon dioxide. Leaves take in carbon dioxide through stomata and combine it with water to make glucose. Oxygen is what they give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three goals from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· Class 7 Science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45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45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nlight on a green 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1B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7 · SCIENCE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2316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Photosynthesis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leaf makes food out of light, water and air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818827" y="6528816"/>
            <a:ext cx="226314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818827" y="6528816"/>
            <a:ext cx="2263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Aurr123 · CC BY-SA 4.0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can…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09928"/>
            <a:ext cx="914400" cy="91440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385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17099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what goes in and what comes out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2148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carbon dioxide in; glucose and oxygen out.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127248"/>
            <a:ext cx="914400" cy="91440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5584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31272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where it happens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35661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chloroplasts, mostly in the cells of the leaf.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4544568"/>
            <a:ext cx="914400" cy="91440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7316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83080" y="45445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every food chain needs it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783080" y="4983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in almost all our food first entered through a leaf.</a:t>
            </a:r>
            <a:endParaRPr lang="en-US" sz="1600" dirty="0"/>
          </a:p>
        </p:txBody>
      </p:sp>
      <p:pic>
        <p:nvPicPr>
          <p:cNvPr id="15" name="Image 3" descr="Chloroplasts inside moss cells under a micr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095" y="1600200"/>
            <a:ext cx="3108960" cy="4206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70187" y="5477256"/>
            <a:ext cx="226314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9270187" y="5477256"/>
            <a:ext cx="2263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Kelvinsong · CC BY 3.0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45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in, what comes 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E7F3EA"/>
          </a:solidFill>
          <a:ln/>
        </p:spPr>
      </p:sp>
      <p:sp>
        <p:nvSpPr>
          <p:cNvPr id="4" name="Shape 2"/>
          <p:cNvSpPr/>
          <p:nvPr/>
        </p:nvSpPr>
        <p:spPr>
          <a:xfrm>
            <a:off x="121158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295144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up by the roots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251460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1645A"/>
                </a:solidFill>
              </a:rPr>
              <a:t>+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3063240" y="182880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E7F3EA"/>
          </a:solidFill>
          <a:ln/>
        </p:spPr>
      </p:sp>
      <p:sp>
        <p:nvSpPr>
          <p:cNvPr id="10" name="Shape 7"/>
          <p:cNvSpPr/>
          <p:nvPr/>
        </p:nvSpPr>
        <p:spPr>
          <a:xfrm>
            <a:off x="372618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204" y="229514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5468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dioxide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20040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air, via stomata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349240" y="2606040"/>
            <a:ext cx="1005840" cy="685800"/>
          </a:xfrm>
          <a:prstGeom prst="rightArrow">
            <a:avLst/>
          </a:prstGeom>
          <a:solidFill>
            <a:srgbClr val="F2C14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16636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37960" y="182880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FFF6DC"/>
          </a:solidFill>
          <a:ln/>
        </p:spPr>
      </p:sp>
      <p:sp>
        <p:nvSpPr>
          <p:cNvPr id="17" name="Shape 13"/>
          <p:cNvSpPr/>
          <p:nvPr/>
        </p:nvSpPr>
        <p:spPr>
          <a:xfrm>
            <a:off x="720090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295144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2940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Glucose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67512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the plant uses and stores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641080" y="251460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1645A"/>
                </a:solidFill>
              </a:rPr>
              <a:t>+</a:t>
            </a:r>
            <a:endParaRPr lang="en-US" sz="40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103120" cy="2240280"/>
          </a:xfrm>
          <a:prstGeom prst="roundRect">
            <a:avLst>
              <a:gd name="adj" fmla="val 5217"/>
            </a:avLst>
          </a:prstGeom>
          <a:solidFill>
            <a:srgbClr val="FFF6DC"/>
          </a:solidFill>
          <a:ln/>
        </p:spPr>
      </p:sp>
      <p:sp>
        <p:nvSpPr>
          <p:cNvPr id="23" name="Shape 18"/>
          <p:cNvSpPr/>
          <p:nvPr/>
        </p:nvSpPr>
        <p:spPr>
          <a:xfrm>
            <a:off x="971550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7524" y="2295144"/>
            <a:ext cx="393192" cy="39319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9189720" y="3474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into the air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45720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6F8F7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68680" y="45720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chemical equation:   </a:t>
            </a:r>
            <a:pPr indent="0" marL="0">
              <a:buNone/>
            </a:pPr>
            <a:r>
              <a:rPr lang="en-US" sz="2000" b="1" dirty="0">
                <a:solidFill>
                  <a:srgbClr val="173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6CO₂ + 6H₂O  →  C₆H₁₂O₆ + 6O₂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 is the green pigment that traps light. It is why leaves look green.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45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loroplasts in moss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6735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LEAF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0584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green factories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229514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Chloroplasts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green bodies in leaf cells where food is made.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25526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pigment inside them that captures sunlight.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421538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pores on the leaf that let carbon dioxide in and oxygen out.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544068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E7F3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532120"/>
            <a:ext cx="5150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green dot in this photo is one chloroplast, seen through a microscope.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818827" y="6528816"/>
            <a:ext cx="226314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818827" y="6528816"/>
            <a:ext cx="2263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Kelvinsong · CC BY 3.0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leaf does it, step by step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62851" cy="324612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88531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14142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Roots absorb water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69080"/>
            <a:ext cx="14142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travels up the stem to the leaves.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57211" y="3223260"/>
            <a:ext cx="228600" cy="274320"/>
          </a:xfrm>
          <a:prstGeom prst="rightArrow">
            <a:avLst/>
          </a:prstGeom>
          <a:solidFill>
            <a:srgbClr val="2E7D4F"/>
          </a:solidFill>
          <a:ln/>
        </p:spPr>
      </p:sp>
      <p:sp>
        <p:nvSpPr>
          <p:cNvPr id="10" name="Shape 7"/>
          <p:cNvSpPr/>
          <p:nvPr/>
        </p:nvSpPr>
        <p:spPr>
          <a:xfrm>
            <a:off x="2831531" y="1737360"/>
            <a:ext cx="1962851" cy="324612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5851" y="2011680"/>
            <a:ext cx="822960" cy="82296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19" y="22128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71422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105851" y="3063240"/>
            <a:ext cx="14142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Stomata take in CO₂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105851" y="4069080"/>
            <a:ext cx="14142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 enters from the air.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840102" y="3223260"/>
            <a:ext cx="228600" cy="274320"/>
          </a:xfrm>
          <a:prstGeom prst="rightArrow">
            <a:avLst/>
          </a:prstGeom>
          <a:solidFill>
            <a:srgbClr val="2E7D4F"/>
          </a:solidFill>
          <a:ln/>
        </p:spPr>
      </p:sp>
      <p:sp>
        <p:nvSpPr>
          <p:cNvPr id="17" name="Shape 13"/>
          <p:cNvSpPr/>
          <p:nvPr/>
        </p:nvSpPr>
        <p:spPr>
          <a:xfrm>
            <a:off x="5114422" y="1737360"/>
            <a:ext cx="1962851" cy="324612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88742" y="2011680"/>
            <a:ext cx="822960" cy="82296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10" y="221284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54313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388742" y="3063240"/>
            <a:ext cx="14142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Chlorophyll traps light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388742" y="4069080"/>
            <a:ext cx="14142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 is captured in the chloroplasts.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122993" y="3223260"/>
            <a:ext cx="228600" cy="274320"/>
          </a:xfrm>
          <a:prstGeom prst="rightArrow">
            <a:avLst/>
          </a:prstGeom>
          <a:solidFill>
            <a:srgbClr val="2E7D4F"/>
          </a:solidFill>
          <a:ln/>
        </p:spPr>
      </p:sp>
      <p:sp>
        <p:nvSpPr>
          <p:cNvPr id="24" name="Shape 19"/>
          <p:cNvSpPr/>
          <p:nvPr/>
        </p:nvSpPr>
        <p:spPr>
          <a:xfrm>
            <a:off x="7397313" y="1737360"/>
            <a:ext cx="1962851" cy="324612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671633" y="2011680"/>
            <a:ext cx="822960" cy="82296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801" y="221284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537204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671633" y="3063240"/>
            <a:ext cx="14142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Glucose is made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671633" y="4069080"/>
            <a:ext cx="14142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CO₂ are joined using that energy.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405884" y="3223260"/>
            <a:ext cx="228600" cy="274320"/>
          </a:xfrm>
          <a:prstGeom prst="rightArrow">
            <a:avLst/>
          </a:prstGeom>
          <a:solidFill>
            <a:srgbClr val="2E7D4F"/>
          </a:solidFill>
          <a:ln/>
        </p:spPr>
      </p:sp>
      <p:sp>
        <p:nvSpPr>
          <p:cNvPr id="31" name="Shape 25"/>
          <p:cNvSpPr/>
          <p:nvPr/>
        </p:nvSpPr>
        <p:spPr>
          <a:xfrm>
            <a:off x="9680204" y="1737360"/>
            <a:ext cx="1962851" cy="324612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954524" y="2011680"/>
            <a:ext cx="822960" cy="822960"/>
          </a:xfrm>
          <a:prstGeom prst="ellipse">
            <a:avLst/>
          </a:prstGeom>
          <a:solidFill>
            <a:srgbClr val="E7F3EA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692" y="2212848"/>
            <a:ext cx="420624" cy="4206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820095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9954524" y="3063240"/>
            <a:ext cx="14142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is released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9954524" y="4069080"/>
            <a:ext cx="141421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through the stomata.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5257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also use some of the glucose straight away, and store the rest as starch.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45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men harvesting rice in a paddy f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3949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0" y="68580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035040" y="100584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rice is stored sunlight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035040" y="242316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229514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make glucose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season long, from sunlight, water and air.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35040" y="338328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325526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stores 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starch in the grain.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035040" y="4343400"/>
            <a:ext cx="146304" cy="1463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4215384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eat the grain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1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use that stored energy to move, grow and think.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035040" y="5440680"/>
            <a:ext cx="5608015" cy="868680"/>
          </a:xfrm>
          <a:prstGeom prst="roundRect">
            <a:avLst>
              <a:gd name="adj" fmla="val 8421"/>
            </a:avLst>
          </a:prstGeom>
          <a:solidFill>
            <a:srgbClr val="E7F3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63640" y="5532120"/>
            <a:ext cx="5150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food chain on land starts with photosynthesis.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884932" y="6528816"/>
            <a:ext cx="2400300" cy="219456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884932" y="6528816"/>
            <a:ext cx="2400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McKay Savage · CC BY 2.0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gas do leaves take in to make their food?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990088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78728" y="265176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2990088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2990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83464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dioxide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544568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8728" y="4206240"/>
            <a:ext cx="5364328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D5E6D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3048" y="4544568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3048" y="45445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89120"/>
            <a:ext cx="403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1645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B3D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carbon dioxide go 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90824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B3D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108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710864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and chlorophyll power it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B3D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and oxygen come out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75191" y="1691640"/>
            <a:ext cx="2567864" cy="2651760"/>
          </a:xfrm>
          <a:prstGeom prst="roundRect">
            <a:avLst>
              <a:gd name="adj" fmla="val 3561"/>
            </a:avLst>
          </a:prstGeom>
          <a:solidFill>
            <a:srgbClr val="1B3D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95231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395231" y="2788920"/>
            <a:ext cx="1927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feeds almost every food chain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  </a:t>
            </a:r>
            <a:pPr indent="0" marL="0">
              <a:buNone/>
            </a:pPr>
            <a:r>
              <a:rPr lang="en-US" sz="1700" dirty="0">
                <a:solidFill>
                  <a:srgbClr val="D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potted plant in a dark cupboard for two days. What happens to its leaves, and why?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C6D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ran Photosynthesis">
  <a:themeElements>
    <a:clrScheme name="Vivran Photosynthesis">
      <a:dk1>
        <a:srgbClr val="17301F"/>
      </a:dk1>
      <a:lt1>
        <a:srgbClr val="FFFFFF"/>
      </a:lt1>
      <a:dk2>
        <a:srgbClr val="0F2A1B"/>
      </a:dk2>
      <a:lt2>
        <a:srgbClr val="E7F3EA"/>
      </a:lt2>
      <a:accent1>
        <a:srgbClr val="2E7D4F"/>
      </a:accent1>
      <a:accent2>
        <a:srgbClr val="F2C14E"/>
      </a:accent2>
      <a:accent3>
        <a:srgbClr val="51645A"/>
      </a:accent3>
      <a:accent4>
        <a:srgbClr val="B8860B"/>
      </a:accent4>
      <a:accent5>
        <a:srgbClr val="51645A"/>
      </a:accent5>
      <a:accent6>
        <a:srgbClr val="D5E6DA"/>
      </a:accent6>
      <a:hlink>
        <a:srgbClr val="2E7D4F"/>
      </a:hlink>
      <a:folHlink>
        <a:srgbClr val="51645A"/>
      </a:folHlink>
    </a:clrScheme>
    <a:fontScheme name="Vivran Photosynthe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Vivran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Photosynthesis · Class 7</dc:title>
  <dc:subject>PptxGenJS Presentation</dc:subject>
  <dc:creator>Vivran</dc:creator>
  <cp:lastModifiedBy>Vivran</cp:lastModifiedBy>
  <cp:revision>1</cp:revision>
  <dcterms:created xsi:type="dcterms:W3CDTF">2026-10-23T08:53:38Z</dcterms:created>
  <dcterms:modified xsi:type="dcterms:W3CDTF">2026-10-23T08:53:38Z</dcterms:modified>
</cp:coreProperties>
</file>