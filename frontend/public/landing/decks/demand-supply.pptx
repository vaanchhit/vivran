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what they paid for onions or tomatoes recently, and whether the price changes through the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three words on the board: demand, supply, equilibrium.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at ₹20, how many kilos are wanted and how many are offered? What happens next?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pair a news headline and ask: does it shift demand or supply, and which way?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the left shift on the board over the chart from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It falls. Supply shifts right: more tomatoes at every price, so sellers lower the price to sell them. Equilibrium price falls and quantity 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ticket: draw a supply shift and label the new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Supply · Class 11 Economics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vegetable vendor at an Indian mar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55">
              <a:alpha val="6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11 · ECONOMICS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2316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and Supply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price of onions can jump in a single month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407347" y="6528816"/>
            <a:ext cx="267462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407347" y="6528816"/>
            <a:ext cx="2674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Whispyhistory · CC BY-SA 4.0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forces, one price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914400" cy="91440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7099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Demand: what buyers want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price rises, people buy less (other things staying the same).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127248"/>
            <a:ext cx="914400" cy="91440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5584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31272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Supply: what sellers offer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35661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price rises, sellers offer more.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4544568"/>
            <a:ext cx="914400" cy="91440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7316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45445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Equilibrium: where they meet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4983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at which the amount wanted equals the amount offered.</a:t>
            </a:r>
            <a:endParaRPr lang="en-US" sz="1600" dirty="0"/>
          </a:p>
        </p:txBody>
      </p:sp>
      <p:pic>
        <p:nvPicPr>
          <p:cNvPr id="15" name="Image 3" descr="A busy vegetable market in Hyderab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095" y="1600200"/>
            <a:ext cx="3108960" cy="4206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41487" y="5477256"/>
            <a:ext cx="329184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241487" y="54772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Iijjccoo at Dutch Wikipedia · Public domain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demand meets supply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1600200"/>
            <a:ext cx="0" cy="3657600"/>
          </a:xfrm>
          <a:prstGeom prst="line">
            <a:avLst/>
          </a:prstGeom>
          <a:noFill/>
          <a:ln w="15875">
            <a:solidFill>
              <a:srgbClr val="5861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5257800"/>
            <a:ext cx="5852160" cy="0"/>
          </a:xfrm>
          <a:prstGeom prst="line">
            <a:avLst/>
          </a:prstGeom>
          <a:noFill/>
          <a:ln w="15875">
            <a:solidFill>
              <a:srgbClr val="5861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592782"/>
            <a:ext cx="5852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6476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8A"/>
                </a:solidFill>
              </a:rPr>
              <a:t>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927764"/>
            <a:ext cx="5852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997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8A"/>
                </a:solidFill>
              </a:rPr>
              <a:t>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262745"/>
            <a:ext cx="5852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34729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8A"/>
                </a:solidFill>
              </a:rPr>
              <a:t>60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597727"/>
            <a:ext cx="5852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469711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8A"/>
                </a:solidFill>
              </a:rPr>
              <a:t>80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1932709"/>
            <a:ext cx="58521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804693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8A"/>
                </a:solidFill>
              </a:rPr>
              <a:t>100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349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₹10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5349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₹20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5349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₹30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5349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₹40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5349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₹50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669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Price per kg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1216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618A"/>
                </a:solidFill>
              </a:rPr>
              <a:t>Quantity (kg)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1932709"/>
            <a:ext cx="1463040" cy="665018"/>
          </a:xfrm>
          <a:prstGeom prst="line">
            <a:avLst/>
          </a:prstGeom>
          <a:noFill/>
          <a:ln w="44450">
            <a:solidFill>
              <a:srgbClr val="E257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2597727"/>
            <a:ext cx="1463040" cy="665018"/>
          </a:xfrm>
          <a:prstGeom prst="line">
            <a:avLst/>
          </a:prstGeom>
          <a:noFill/>
          <a:ln w="44450">
            <a:solidFill>
              <a:srgbClr val="E257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262745"/>
            <a:ext cx="1463040" cy="665018"/>
          </a:xfrm>
          <a:prstGeom prst="line">
            <a:avLst/>
          </a:prstGeom>
          <a:noFill/>
          <a:ln w="44450">
            <a:solidFill>
              <a:srgbClr val="E257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3927764"/>
            <a:ext cx="1463040" cy="665018"/>
          </a:xfrm>
          <a:prstGeom prst="line">
            <a:avLst/>
          </a:prstGeom>
          <a:noFill/>
          <a:ln w="44450">
            <a:solidFill>
              <a:srgbClr val="E257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98448" y="1859557"/>
            <a:ext cx="146304" cy="146304"/>
          </a:xfrm>
          <a:prstGeom prst="ellipse">
            <a:avLst/>
          </a:prstGeom>
          <a:solidFill>
            <a:srgbClr val="E257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61488" y="2524575"/>
            <a:ext cx="146304" cy="146304"/>
          </a:xfrm>
          <a:prstGeom prst="ellipse">
            <a:avLst/>
          </a:prstGeom>
          <a:solidFill>
            <a:srgbClr val="E257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24528" y="3189593"/>
            <a:ext cx="146304" cy="146304"/>
          </a:xfrm>
          <a:prstGeom prst="ellipse">
            <a:avLst/>
          </a:prstGeom>
          <a:solidFill>
            <a:srgbClr val="E257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3854612"/>
            <a:ext cx="146304" cy="146304"/>
          </a:xfrm>
          <a:prstGeom prst="ellipse">
            <a:avLst/>
          </a:prstGeom>
          <a:solidFill>
            <a:srgbClr val="E257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4519630"/>
            <a:ext cx="146304" cy="146304"/>
          </a:xfrm>
          <a:prstGeom prst="ellipse">
            <a:avLst/>
          </a:prstGeom>
          <a:solidFill>
            <a:srgbClr val="E257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1548661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74C"/>
                </a:solidFill>
              </a:rPr>
              <a:t>Demand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 flipV="1">
            <a:off x="1371600" y="3927764"/>
            <a:ext cx="1463040" cy="665018"/>
          </a:xfrm>
          <a:prstGeom prst="line">
            <a:avLst/>
          </a:prstGeom>
          <a:noFill/>
          <a:ln w="44450">
            <a:solidFill>
              <a:srgbClr val="2F5D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834640" y="3262745"/>
            <a:ext cx="1463040" cy="665018"/>
          </a:xfrm>
          <a:prstGeom prst="line">
            <a:avLst/>
          </a:prstGeom>
          <a:noFill/>
          <a:ln w="44450">
            <a:solidFill>
              <a:srgbClr val="2F5D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297680" y="2597727"/>
            <a:ext cx="1463040" cy="665018"/>
          </a:xfrm>
          <a:prstGeom prst="line">
            <a:avLst/>
          </a:prstGeom>
          <a:noFill/>
          <a:ln w="44450">
            <a:solidFill>
              <a:srgbClr val="2F5D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760720" y="1932709"/>
            <a:ext cx="1463040" cy="665018"/>
          </a:xfrm>
          <a:prstGeom prst="line">
            <a:avLst/>
          </a:prstGeom>
          <a:noFill/>
          <a:ln w="44450">
            <a:solidFill>
              <a:srgbClr val="2F5D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98448" y="4519630"/>
            <a:ext cx="146304" cy="146304"/>
          </a:xfrm>
          <a:prstGeom prst="ellipse">
            <a:avLst/>
          </a:prstGeom>
          <a:solidFill>
            <a:srgbClr val="2F5D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61488" y="3854612"/>
            <a:ext cx="146304" cy="146304"/>
          </a:xfrm>
          <a:prstGeom prst="ellipse">
            <a:avLst/>
          </a:prstGeom>
          <a:solidFill>
            <a:srgbClr val="2F5D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24528" y="3189593"/>
            <a:ext cx="146304" cy="146304"/>
          </a:xfrm>
          <a:prstGeom prst="ellipse">
            <a:avLst/>
          </a:prstGeom>
          <a:solidFill>
            <a:srgbClr val="2F5D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87568" y="2524575"/>
            <a:ext cx="146304" cy="146304"/>
          </a:xfrm>
          <a:prstGeom prst="ellipse">
            <a:avLst/>
          </a:prstGeom>
          <a:solidFill>
            <a:srgbClr val="2F5D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0608" y="1859557"/>
            <a:ext cx="146304" cy="146304"/>
          </a:xfrm>
          <a:prstGeom prst="ellipse">
            <a:avLst/>
          </a:prstGeom>
          <a:solidFill>
            <a:srgbClr val="2F5D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54480" y="468422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DA8"/>
                </a:solidFill>
              </a:rPr>
              <a:t>Supply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297680" y="3262745"/>
            <a:ext cx="0" cy="1995055"/>
          </a:xfrm>
          <a:prstGeom prst="line">
            <a:avLst/>
          </a:prstGeom>
          <a:noFill/>
          <a:ln w="12700">
            <a:solidFill>
              <a:srgbClr val="1F2A5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160520" y="3125585"/>
            <a:ext cx="274320" cy="274320"/>
          </a:xfrm>
          <a:prstGeom prst="ellipse">
            <a:avLst/>
          </a:prstGeom>
          <a:solidFill>
            <a:srgbClr val="F5C451"/>
          </a:solidFill>
          <a:ln w="19050">
            <a:solidFill>
              <a:srgbClr val="1F2A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1554480"/>
            <a:ext cx="3779215" cy="1920240"/>
          </a:xfrm>
          <a:prstGeom prst="roundRect">
            <a:avLst>
              <a:gd name="adj" fmla="val 4762"/>
            </a:avLst>
          </a:prstGeom>
          <a:solidFill>
            <a:srgbClr val="1F2A5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138160" y="175564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451"/>
                </a:solidFill>
              </a:rPr>
              <a:t>EQUILIBRIUM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2057400"/>
            <a:ext cx="3230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 / kg</a:t>
            </a:r>
            <a:endParaRPr lang="en-US" sz="40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278892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DCE3"/>
                </a:solidFill>
              </a:rPr>
              <a:t>60 kg bought and sold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0" y="3703320"/>
            <a:ext cx="3779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₹30, </a:t>
            </a:r>
            <a:pPr indent="0" marL="0">
              <a:buNone/>
            </a:pPr>
            <a:r>
              <a:rPr lang="en-US" sz="16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want more than sellers offer: a shortage pushes the price up.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₹30, </a:t>
            </a:r>
            <a:pPr indent="0" marL="0">
              <a:buNone/>
            </a:pPr>
            <a:r>
              <a:rPr lang="en-US" sz="16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are left holding stock: a surplus pushes it down.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035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618A"/>
                </a:solidFill>
              </a:rPr>
              <a:t>Illustrative numbers for a local tomato market.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moves the curves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3630168"/>
          </a:xfrm>
          <a:prstGeom prst="roundRect">
            <a:avLst>
              <a:gd name="adj" fmla="val 2519"/>
            </a:avLst>
          </a:prstGeom>
          <a:solidFill>
            <a:srgbClr val="FDECE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47672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shifts when…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71800"/>
            <a:ext cx="472424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Incomes change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Tastes and fashions change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of substitutes change (tea vs coffee)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expect prices to rise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600200"/>
            <a:ext cx="5364328" cy="3630168"/>
          </a:xfrm>
          <a:prstGeom prst="roundRect">
            <a:avLst>
              <a:gd name="adj" fmla="val 2519"/>
            </a:avLst>
          </a:prstGeom>
          <a:solidFill>
            <a:srgbClr val="E8EEF8"/>
          </a:solidFill>
          <a:ln/>
        </p:spPr>
      </p:sp>
      <p:sp>
        <p:nvSpPr>
          <p:cNvPr id="9" name="Shape 6"/>
          <p:cNvSpPr/>
          <p:nvPr/>
        </p:nvSpPr>
        <p:spPr>
          <a:xfrm>
            <a:off x="6598768" y="1920240"/>
            <a:ext cx="777240" cy="777240"/>
          </a:xfrm>
          <a:prstGeom prst="ellipse">
            <a:avLst/>
          </a:prstGeom>
          <a:solidFill>
            <a:srgbClr val="2F5DA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2" y="2112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58888" y="1947672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5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shifts when…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971800"/>
            <a:ext cx="472424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of inputs change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hits a harvest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improves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or subsidies change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4589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price moves along a curve. A change in anything else shifts the whole curve.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 onion vendor resting on sacks of on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735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monsoon fails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146304" cy="1463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229514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rain,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onion harvest.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46304" cy="1463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25526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shifts left: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onions at every price.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46304" cy="1463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21538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rises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buyers cut back enough to match what's available.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544068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532120"/>
            <a:ext cx="5150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barely changed. The whole price jump came from supply.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818827" y="6528816"/>
            <a:ext cx="226314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818827" y="6528816"/>
            <a:ext cx="2263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Advay m · CC BY-SA 4.0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bumper harvest increases the supply of tomatoes. If demand doesn't change, what happens to the equilibrium price?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F3D3C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990088"/>
            <a:ext cx="603504" cy="6035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rises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F3D3C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2990088"/>
            <a:ext cx="603504" cy="6035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falls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F3D3C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544568"/>
            <a:ext cx="603504" cy="6035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the same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8728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F3D3C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3048" y="4544568"/>
            <a:ext cx="603504" cy="60350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be known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1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D3A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falls as price rises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90824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D3A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108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710864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rises as price rises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D3A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Equilibrium: wanted = offered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75191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2D3A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95231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95231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shift curves, then price adjusts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  </a:t>
            </a:r>
            <a:pPr indent="0" marL="0">
              <a:buNone/>
            </a:pPr>
            <a:r>
              <a:rPr lang="en-US" sz="17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price of one vegetable at your local market for a week and explain any change.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ran Demand and Supply">
  <a:themeElements>
    <a:clrScheme name="Vivran Demand and Supply">
      <a:dk1>
        <a:srgbClr val="1F2A55"/>
      </a:dk1>
      <a:lt1>
        <a:srgbClr val="FFFFFF"/>
      </a:lt1>
      <a:dk2>
        <a:srgbClr val="1F2A55"/>
      </a:dk2>
      <a:lt2>
        <a:srgbClr val="FDECEA"/>
      </a:lt2>
      <a:accent1>
        <a:srgbClr val="E2574C"/>
      </a:accent1>
      <a:accent2>
        <a:srgbClr val="F5C451"/>
      </a:accent2>
      <a:accent3>
        <a:srgbClr val="2F5DA8"/>
      </a:accent3>
      <a:accent4>
        <a:srgbClr val="C0392B"/>
      </a:accent4>
      <a:accent5>
        <a:srgbClr val="58618A"/>
      </a:accent5>
      <a:accent6>
        <a:srgbClr val="F3D3CF"/>
      </a:accent6>
      <a:hlink>
        <a:srgbClr val="E2574C"/>
      </a:hlink>
      <a:folHlink>
        <a:srgbClr val="58618A"/>
      </a:folHlink>
    </a:clrScheme>
    <a:fontScheme name="Vivran Demand and Suppl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and Supply · Class 11</dc:title>
  <dc:subject>PptxGenJS Presentation</dc:subject>
  <dc:creator>Vivran</dc:creator>
  <cp:lastModifiedBy>Vivran</cp:lastModifiedBy>
  <cp:revision>1</cp:revision>
  <dcterms:created xsi:type="dcterms:W3CDTF">2026-10-23T08:53:40Z</dcterms:created>
  <dcterms:modified xsi:type="dcterms:W3CDTF">2026-10-23T08:53:40Z</dcterms:modified>
</cp:coreProperties>
</file>